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</p:sldMasterIdLst>
  <p:notesMasterIdLst>
    <p:notesMasterId r:id="rId20"/>
  </p:notesMasterIdLst>
  <p:sldIdLst>
    <p:sldId id="256" r:id="rId3"/>
    <p:sldId id="273" r:id="rId4"/>
    <p:sldId id="287" r:id="rId5"/>
    <p:sldId id="275" r:id="rId6"/>
    <p:sldId id="288" r:id="rId7"/>
    <p:sldId id="274" r:id="rId8"/>
    <p:sldId id="281" r:id="rId9"/>
    <p:sldId id="286" r:id="rId10"/>
    <p:sldId id="289" r:id="rId11"/>
    <p:sldId id="284" r:id="rId12"/>
    <p:sldId id="280" r:id="rId13"/>
    <p:sldId id="277" r:id="rId14"/>
    <p:sldId id="278" r:id="rId15"/>
    <p:sldId id="279" r:id="rId16"/>
    <p:sldId id="282" r:id="rId17"/>
    <p:sldId id="283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9C423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01"/>
    <p:restoredTop sz="96040"/>
  </p:normalViewPr>
  <p:slideViewPr>
    <p:cSldViewPr snapToGrid="0" snapToObjects="1" showGuides="1">
      <p:cViewPr varScale="1">
        <p:scale>
          <a:sx n="91" d="100"/>
          <a:sy n="91" d="100"/>
        </p:scale>
        <p:origin x="77" y="72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F69D17-E8B8-4E6D-A84E-918173020E3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C286F-757B-4A9F-85C7-A9497D70E2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07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Gotham Book" pitchFamily="2" charset="0"/>
                <a:cs typeface="Gotham Book" pitchFamily="2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Gotham Book" pitchFamily="2" charset="0"/>
                <a:cs typeface="Gotham Book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Gotham Book" pitchFamily="2" charset="0"/>
                <a:cs typeface="Gotham Book" pitchFamily="2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Gotham Book" pitchFamily="2" charset="0"/>
                <a:cs typeface="Gotham Book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ooter">
            <a:extLst>
              <a:ext uri="{FF2B5EF4-FFF2-40B4-BE49-F238E27FC236}">
                <a16:creationId xmlns:a16="http://schemas.microsoft.com/office/drawing/2014/main" id="{26733556-92E5-5049-8BF6-0C0F38CB8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16" name="Page Number">
            <a:extLst>
              <a:ext uri="{FF2B5EF4-FFF2-40B4-BE49-F238E27FC236}">
                <a16:creationId xmlns:a16="http://schemas.microsoft.com/office/drawing/2014/main" id="{39F43E14-EFDE-AD4F-B765-7423FE37D098}"/>
              </a:ext>
            </a:extLst>
          </p:cNvPr>
          <p:cNvSpPr txBox="1"/>
          <p:nvPr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Gotham Book" pitchFamily="2" charset="0"/>
                <a:cs typeface="Gotham Book" pitchFamily="2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Gotham Book" pitchFamily="2" charset="0"/>
                <a:cs typeface="Gotham Book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Gotham Book" pitchFamily="2" charset="0"/>
                <a:cs typeface="Gotham Book" pitchFamily="2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Gotham Book" pitchFamily="2" charset="0"/>
                <a:cs typeface="Gotham Book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BB69BBF7-10A2-6A49-90CD-337C1ED3F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8" name="Page Number">
            <a:extLst>
              <a:ext uri="{FF2B5EF4-FFF2-40B4-BE49-F238E27FC236}">
                <a16:creationId xmlns:a16="http://schemas.microsoft.com/office/drawing/2014/main" id="{5A4C5380-B9BB-D54E-8FD6-55E460814B85}"/>
              </a:ext>
            </a:extLst>
          </p:cNvPr>
          <p:cNvSpPr txBox="1"/>
          <p:nvPr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">
            <a:extLst>
              <a:ext uri="{FF2B5EF4-FFF2-40B4-BE49-F238E27FC236}">
                <a16:creationId xmlns:a16="http://schemas.microsoft.com/office/drawing/2014/main" id="{877BDF31-8E81-1A4F-A3F4-2D96AD49B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10" name="Page Number">
            <a:extLst>
              <a:ext uri="{FF2B5EF4-FFF2-40B4-BE49-F238E27FC236}">
                <a16:creationId xmlns:a16="http://schemas.microsoft.com/office/drawing/2014/main" id="{C09EEEE4-37A8-5C40-80B2-C5CFE4E0B84C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">
            <a:extLst>
              <a:ext uri="{FF2B5EF4-FFF2-40B4-BE49-F238E27FC236}">
                <a16:creationId xmlns:a16="http://schemas.microsoft.com/office/drawing/2014/main" id="{8D2C01EA-1EA7-EF4F-98FF-3C4BE59F7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13" name="Page Number">
            <a:extLst>
              <a:ext uri="{FF2B5EF4-FFF2-40B4-BE49-F238E27FC236}">
                <a16:creationId xmlns:a16="http://schemas.microsoft.com/office/drawing/2014/main" id="{667CC309-F2B3-E94F-B6B6-034056DC5618}"/>
              </a:ext>
            </a:extLst>
          </p:cNvPr>
          <p:cNvSpPr txBox="1"/>
          <p:nvPr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">
            <a:extLst>
              <a:ext uri="{FF2B5EF4-FFF2-40B4-BE49-F238E27FC236}">
                <a16:creationId xmlns:a16="http://schemas.microsoft.com/office/drawing/2014/main" id="{9BD5D4DE-D522-6F48-A1FE-1F769BB84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11" name="Page Number">
            <a:extLst>
              <a:ext uri="{FF2B5EF4-FFF2-40B4-BE49-F238E27FC236}">
                <a16:creationId xmlns:a16="http://schemas.microsoft.com/office/drawing/2014/main" id="{3608A0B5-39DB-C14E-A8BE-5D8D40CB5819}"/>
              </a:ext>
            </a:extLst>
          </p:cNvPr>
          <p:cNvSpPr txBox="1"/>
          <p:nvPr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8243196-ADBC-DF43-B2B5-50699576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14F570C-7174-634E-93EB-1A884190150B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88243196-ADBC-DF43-B2B5-50699576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14F570C-7174-634E-93EB-1A884190150B}"/>
              </a:ext>
            </a:extLst>
          </p:cNvPr>
          <p:cNvSpPr txBox="1"/>
          <p:nvPr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Gotham Book" pitchFamily="2" charset="0"/>
                <a:ea typeface="Verdana" panose="020B0604030504040204" pitchFamily="34" charset="0"/>
                <a:cs typeface="Gotham Book" pitchFamily="2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Gotham Book" pitchFamily="2" charset="0"/>
              <a:ea typeface="Verdana" panose="020B0604030504040204" pitchFamily="34" charset="0"/>
              <a:cs typeface="Gotham Book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898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otham Black" pitchFamily="2" charset="0"/>
          <a:ea typeface="+mj-ea"/>
          <a:cs typeface="Gotham Black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0" i="0" kern="1200">
          <a:solidFill>
            <a:schemeClr val="tx1"/>
          </a:solidFill>
          <a:latin typeface="Gotham Black" pitchFamily="2" charset="0"/>
          <a:ea typeface="+mj-ea"/>
          <a:cs typeface="Gotham Black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otham Book" pitchFamily="2" charset="0"/>
          <a:ea typeface="+mn-ea"/>
          <a:cs typeface="Gotham Book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ng.com/ck/a?!&amp;&amp;p=090c1b3138ce559577c25653e0b1811a58e5755957bddafb82c2014eb74d2cd3JmltdHM9MTc4NDU5MjAwMA&amp;ptn=3&amp;ver=2&amp;hsh=4&amp;fclid=0f7ac018-9368-6f7d-1850-d6c192446edb&amp;u=a1aHR0cHM6Ly9wbXN0dWR5Y2lyY2xlLmNvbS9yaXNrLWFzc2Vzc21lbnQtbWF0cml4Lw&amp;ntb=1" TargetMode="Externa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Preliminary Design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Project Name</a:t>
            </a:r>
          </a:p>
          <a:p>
            <a:endParaRPr lang="en-US" dirty="0"/>
          </a:p>
          <a:p>
            <a:r>
              <a:rPr lang="en-US" dirty="0"/>
              <a:t>ISC4323C Fall2026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2" y="1124950"/>
            <a:ext cx="9982199" cy="838931"/>
          </a:xfrm>
        </p:spPr>
        <p:txBody>
          <a:bodyPr/>
          <a:lstStyle/>
          <a:p>
            <a:r>
              <a:rPr lang="en-US" dirty="0"/>
              <a:t>CONTENTS (Core Sections of a PDR)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D35A2C-62BB-0845-F6FE-38AB46F90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351" y="1703998"/>
            <a:ext cx="4267193" cy="4166866"/>
          </a:xfrm>
        </p:spPr>
        <p:txBody>
          <a:bodyPr/>
          <a:lstStyle/>
          <a:p>
            <a:r>
              <a:rPr lang="en-US" dirty="0"/>
              <a:t>1. Management Structure, Cost, Schedule, and Milestones</a:t>
            </a:r>
          </a:p>
          <a:p>
            <a:r>
              <a:rPr lang="en-US" dirty="0"/>
              <a:t>2. Mission Objective and Requirements</a:t>
            </a:r>
          </a:p>
          <a:p>
            <a:r>
              <a:rPr lang="en-US" dirty="0"/>
              <a:t>3. Feasible Alternatives and Trade Studies</a:t>
            </a:r>
          </a:p>
          <a:p>
            <a:r>
              <a:rPr lang="en-US" dirty="0"/>
              <a:t>4. Architectural Design Development.</a:t>
            </a:r>
          </a:p>
          <a:p>
            <a:r>
              <a:rPr lang="en-US" dirty="0"/>
              <a:t>5. Design Detail and Conceptual Drawings</a:t>
            </a:r>
          </a:p>
          <a:p>
            <a:r>
              <a:rPr lang="en-US" dirty="0"/>
              <a:t>6. Prototyping and Technology Demonstrations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F423407A-D303-DF37-973A-1BB130F80DC1}"/>
              </a:ext>
            </a:extLst>
          </p:cNvPr>
          <p:cNvSpPr txBox="1">
            <a:spLocks/>
          </p:cNvSpPr>
          <p:nvPr/>
        </p:nvSpPr>
        <p:spPr>
          <a:xfrm>
            <a:off x="7013869" y="1703998"/>
            <a:ext cx="4156357" cy="43539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7. Verification and Validation Plan.</a:t>
            </a:r>
          </a:p>
          <a:p>
            <a:r>
              <a:rPr lang="en-US" dirty="0"/>
              <a:t>8. Risk Assessment and Mitigation</a:t>
            </a:r>
          </a:p>
          <a:p>
            <a:r>
              <a:rPr lang="en-US" dirty="0"/>
              <a:t>9. Stakeholder Feedback and Alignment</a:t>
            </a:r>
          </a:p>
          <a:p>
            <a:r>
              <a:rPr lang="en-US" dirty="0"/>
              <a:t>10. Allocated Baseline</a:t>
            </a:r>
          </a:p>
          <a:p>
            <a:r>
              <a:rPr lang="en-US" dirty="0"/>
              <a:t>11. Next Review Plan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A24BAC-6F77-7688-5797-A4D3A78784DE}"/>
              </a:ext>
            </a:extLst>
          </p:cNvPr>
          <p:cNvSpPr txBox="1"/>
          <p:nvPr/>
        </p:nvSpPr>
        <p:spPr>
          <a:xfrm>
            <a:off x="3562417" y="2332139"/>
            <a:ext cx="4071243" cy="276999"/>
          </a:xfrm>
          <a:prstGeom prst="rect">
            <a:avLst/>
          </a:prstGeom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>
                <a:highlight>
                  <a:srgbClr val="FDFDFD"/>
                </a:highlight>
              </a:rPr>
              <a:t>What, Why, How, When, Who, Where, How</a:t>
            </a:r>
          </a:p>
        </p:txBody>
      </p:sp>
    </p:spTree>
    <p:extLst>
      <p:ext uri="{BB962C8B-B14F-4D97-AF65-F5344CB8AC3E}">
        <p14:creationId xmlns:p14="http://schemas.microsoft.com/office/powerpoint/2010/main" val="214465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6343B-05AE-CC1D-1086-1B89FE157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45" y="889233"/>
            <a:ext cx="9982199" cy="1649537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WHAT: are you trying to do?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Mission Objective and Requirements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0257-EC3B-487B-3EA9-76FACB408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1368212"/>
          </a:xfrm>
        </p:spPr>
        <p:txBody>
          <a:bodyPr/>
          <a:lstStyle/>
          <a:p>
            <a:r>
              <a:rPr lang="en-US" dirty="0"/>
              <a:t>Clear statement of the mission and performance goals.</a:t>
            </a:r>
          </a:p>
          <a:p>
            <a:r>
              <a:rPr lang="en-US" dirty="0"/>
              <a:t>Review of validated requirements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1724AB-52EC-9135-6BAB-C8BE64773FE9}"/>
              </a:ext>
            </a:extLst>
          </p:cNvPr>
          <p:cNvSpPr txBox="1"/>
          <p:nvPr/>
        </p:nvSpPr>
        <p:spPr>
          <a:xfrm>
            <a:off x="6338454" y="4339001"/>
            <a:ext cx="3604705" cy="830997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What is the goal of the project?</a:t>
            </a:r>
          </a:p>
          <a:p>
            <a:pPr algn="l"/>
            <a:r>
              <a:rPr lang="en-US" dirty="0"/>
              <a:t>What problem are you trying to solve?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460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3859-674C-4CFC-33A9-901D92613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AF27-2D73-2FA4-22DC-B660C663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345" y="889234"/>
            <a:ext cx="9982199" cy="1577130"/>
          </a:xfrm>
        </p:spPr>
        <p:txBody>
          <a:bodyPr/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WHY: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Why are you solving this?  Who Cares? Etc..</a:t>
            </a:r>
            <a:br>
              <a:rPr lang="en-US" dirty="0"/>
            </a:b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D1871C-34C7-95A9-DFAA-57E683D09522}"/>
              </a:ext>
            </a:extLst>
          </p:cNvPr>
          <p:cNvSpPr txBox="1">
            <a:spLocks/>
          </p:cNvSpPr>
          <p:nvPr/>
        </p:nvSpPr>
        <p:spPr>
          <a:xfrm>
            <a:off x="1272681" y="5062850"/>
            <a:ext cx="9982199" cy="98180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Gotham Black" pitchFamily="2" charset="0"/>
                <a:ea typeface="+mj-ea"/>
                <a:cs typeface="Gotham Black" pitchFamily="2" charset="0"/>
              </a:defRPr>
            </a:lvl1pPr>
          </a:lstStyle>
          <a:p>
            <a:r>
              <a:rPr lang="en-US" b="1" dirty="0"/>
              <a:t>Feasible Alternatives and Trade Studies</a:t>
            </a:r>
            <a:br>
              <a:rPr lang="en-US" dirty="0"/>
            </a:b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F7D83D-3A2E-4848-5F33-FDA358C51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/>
          <a:p>
            <a:r>
              <a:rPr lang="en-US" dirty="0"/>
              <a:t>Summary of concept options and trade study results.</a:t>
            </a:r>
          </a:p>
          <a:p>
            <a:r>
              <a:rPr lang="en-US" dirty="0"/>
              <a:t>Supporting analyses (cost, performance, risk, schedule).</a:t>
            </a:r>
          </a:p>
          <a:p>
            <a:r>
              <a:rPr lang="en-US" dirty="0"/>
              <a:t>Selection rationale for the recommended design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0E1FE-F0C0-C351-BFDE-DF61AC37E84A}"/>
              </a:ext>
            </a:extLst>
          </p:cNvPr>
          <p:cNvSpPr txBox="1"/>
          <p:nvPr/>
        </p:nvSpPr>
        <p:spPr>
          <a:xfrm>
            <a:off x="6640458" y="3958973"/>
            <a:ext cx="4687245" cy="830997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How is this problem solved now?</a:t>
            </a:r>
          </a:p>
          <a:p>
            <a:pPr algn="l"/>
            <a:r>
              <a:rPr lang="en-US" dirty="0"/>
              <a:t>What are other options considered for a solution?</a:t>
            </a:r>
          </a:p>
          <a:p>
            <a:pPr algn="l"/>
            <a:r>
              <a:rPr lang="en-US" dirty="0"/>
              <a:t>Why did you select your approach?</a:t>
            </a:r>
          </a:p>
        </p:txBody>
      </p:sp>
    </p:spTree>
    <p:extLst>
      <p:ext uri="{BB962C8B-B14F-4D97-AF65-F5344CB8AC3E}">
        <p14:creationId xmlns:p14="http://schemas.microsoft.com/office/powerpoint/2010/main" val="196413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A7014-8187-FE04-B619-5D458B11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790" y="1034784"/>
            <a:ext cx="9982199" cy="1290612"/>
          </a:xfrm>
        </p:spPr>
        <p:txBody>
          <a:bodyPr/>
          <a:lstStyle/>
          <a:p>
            <a:r>
              <a:rPr lang="en-US" b="1" dirty="0"/>
              <a:t>HOW and WHEN and WHO: </a:t>
            </a:r>
            <a:br>
              <a:rPr lang="en-US" b="1" dirty="0"/>
            </a:br>
            <a:r>
              <a:rPr lang="en-US" b="1" dirty="0"/>
              <a:t>Management Structure, Cost, Schedule, and Milestones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4B9D6-B57D-5B09-EDE8-4711C01D9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2365739"/>
          </a:xfrm>
        </p:spPr>
        <p:txBody>
          <a:bodyPr/>
          <a:lstStyle/>
          <a:p>
            <a:r>
              <a:rPr lang="en-US" dirty="0"/>
              <a:t>Organizational chart and roles/responsibilities.</a:t>
            </a:r>
          </a:p>
          <a:p>
            <a:r>
              <a:rPr lang="en-US" dirty="0"/>
              <a:t>Budget and funding status.</a:t>
            </a:r>
          </a:p>
          <a:p>
            <a:r>
              <a:rPr lang="en-US" dirty="0"/>
              <a:t>Schedule baseline and key milestones.</a:t>
            </a:r>
          </a:p>
          <a:p>
            <a:r>
              <a:rPr lang="en-US" dirty="0"/>
              <a:t>Risk management plan overview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A9D88-6584-1802-57F9-0AF548A2FB4C}"/>
              </a:ext>
            </a:extLst>
          </p:cNvPr>
          <p:cNvSpPr txBox="1"/>
          <p:nvPr/>
        </p:nvSpPr>
        <p:spPr>
          <a:xfrm>
            <a:off x="5839691" y="3583139"/>
            <a:ext cx="4853957" cy="830997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List of team</a:t>
            </a:r>
          </a:p>
          <a:p>
            <a:pPr algn="l"/>
            <a:r>
              <a:rPr lang="en-US" dirty="0"/>
              <a:t>What are the tasks, who is responsible for each task</a:t>
            </a:r>
          </a:p>
          <a:p>
            <a:pPr algn="l"/>
            <a:r>
              <a:rPr lang="en-US" dirty="0"/>
              <a:t>What is the schedule for task completion</a:t>
            </a:r>
          </a:p>
        </p:txBody>
      </p:sp>
    </p:spTree>
    <p:extLst>
      <p:ext uri="{BB962C8B-B14F-4D97-AF65-F5344CB8AC3E}">
        <p14:creationId xmlns:p14="http://schemas.microsoft.com/office/powerpoint/2010/main" val="1337351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F851-9ADA-7239-1DEB-9909DD9B0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16" y="982511"/>
            <a:ext cx="4926778" cy="981801"/>
          </a:xfrm>
        </p:spPr>
        <p:txBody>
          <a:bodyPr/>
          <a:lstStyle/>
          <a:p>
            <a:r>
              <a:rPr lang="en-US" b="1" dirty="0"/>
              <a:t>WHERE: Where might this project break down?  What are the </a:t>
            </a:r>
            <a:r>
              <a:rPr lang="en-US" b="1" dirty="0" err="1"/>
              <a:t>risksRisk</a:t>
            </a:r>
            <a:r>
              <a:rPr lang="en-US" b="1" dirty="0"/>
              <a:t> Assessment and Mitigation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75D0-440E-2267-435F-408AB579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 </a:t>
            </a:r>
            <a:endParaRPr lang="en-US" dirty="0"/>
          </a:p>
          <a:p>
            <a:r>
              <a:rPr lang="en-US" dirty="0"/>
              <a:t>Identified technical, schedule, and cost risks.</a:t>
            </a:r>
          </a:p>
          <a:p>
            <a:r>
              <a:rPr lang="en-US" dirty="0"/>
              <a:t>Mitigation strategies and contingency plans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4D33B-4AF7-2F46-0C2A-963A68BB389E}"/>
              </a:ext>
            </a:extLst>
          </p:cNvPr>
          <p:cNvSpPr txBox="1"/>
          <p:nvPr/>
        </p:nvSpPr>
        <p:spPr>
          <a:xfrm>
            <a:off x="6096000" y="1213396"/>
            <a:ext cx="5170415" cy="453970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How It Works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X-axis (Likelihood/Probability):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How likely the risk is to occur (e.g., very unlikely, unlikely, possible, likely, almost certain).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Y-axis (Impact/Severity):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The potential effect if the risk occurs (e.g., negligible, minor, moderate, major, catastrophic).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Grid cells: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Each cell represents a combination of likelihood and impact, producing a </a:t>
            </a: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risk score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Color coding:</a:t>
            </a:r>
            <a:endParaRPr lang="en-US" sz="1200" b="0" i="0" dirty="0">
              <a:solidFill>
                <a:srgbClr val="5D5751"/>
              </a:solidFill>
              <a:effectLst/>
              <a:latin typeface="Roboto" panose="02000000000000000000" pitchFamily="2" charset="0"/>
            </a:endParaRPr>
          </a:p>
          <a:p>
            <a:pPr marL="0" marR="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Green: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Low risk — minimal likelihood or impact, may be monitored.</a:t>
            </a:r>
          </a:p>
          <a:p>
            <a:pPr marL="0" marR="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Yellow: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Medium risk — moderate likelihood or impact, may require mitigation planning.</a:t>
            </a:r>
          </a:p>
          <a:p>
            <a:pPr marL="742950" marR="0" lvl="1" indent="-285750" algn="l"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Red: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High risk — high likelihood and/or high impact, requires immediate action </a:t>
            </a:r>
            <a:r>
              <a:rPr lang="en-US" sz="825" b="0" i="0" u="none" strike="noStrike" dirty="0">
                <a:solidFill>
                  <a:srgbClr val="5D5751"/>
                </a:solidFill>
                <a:effectLst/>
                <a:latin typeface="Roboto" panose="02000000000000000000" pitchFamily="2" charset="0"/>
                <a:hlinkClick r:id="rId2"/>
              </a:rPr>
              <a:t>PM Study Circle+1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.</a:t>
            </a:r>
          </a:p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Example 5×5 Matrix</a:t>
            </a:r>
          </a:p>
          <a:p>
            <a:pPr marL="0" marR="0" indent="0" algn="l">
              <a:lnSpc>
                <a:spcPts val="1950"/>
              </a:lnSpc>
              <a:buNone/>
            </a:pPr>
            <a:r>
              <a:rPr lang="en-US" sz="1200" b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A common format is a </a:t>
            </a:r>
            <a:r>
              <a:rPr lang="en-US" sz="12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5×5 grid</a:t>
            </a:r>
            <a:r>
              <a:rPr lang="en-US" sz="1200" b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: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Rows: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Likelihood (1–5, e.g., 1=very unlikely, 5=near certain)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Columns: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Impact (1–5, e.g., 1=negligible, 5=catastrophic)</a:t>
            </a:r>
          </a:p>
          <a:p>
            <a:pPr marL="0" marR="0" indent="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Cell color:</a:t>
            </a:r>
            <a:r>
              <a:rPr lang="en-US" sz="1200" b="0" i="0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 Based on the product or sum of the row and column scores.</a:t>
            </a:r>
          </a:p>
        </p:txBody>
      </p:sp>
    </p:spTree>
    <p:extLst>
      <p:ext uri="{BB962C8B-B14F-4D97-AF65-F5344CB8AC3E}">
        <p14:creationId xmlns:p14="http://schemas.microsoft.com/office/powerpoint/2010/main" val="75937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0E7AD-4F59-FAD5-CBBB-C028C0132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assessment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E26B6-8A76-455B-F06A-8156B587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52" y="2808875"/>
            <a:ext cx="3371850" cy="2924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7D6EA3-F910-63E6-2AC3-1CC115852134}"/>
              </a:ext>
            </a:extLst>
          </p:cNvPr>
          <p:cNvSpPr txBox="1"/>
          <p:nvPr/>
        </p:nvSpPr>
        <p:spPr>
          <a:xfrm>
            <a:off x="3730337" y="3716964"/>
            <a:ext cx="2108526" cy="1107996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1) Description of risk</a:t>
            </a:r>
          </a:p>
          <a:p>
            <a:pPr algn="l"/>
            <a:r>
              <a:rPr lang="en-US" dirty="0"/>
              <a:t>2) Description of risk</a:t>
            </a:r>
          </a:p>
          <a:p>
            <a:pPr algn="l"/>
            <a:r>
              <a:rPr lang="en-US" dirty="0"/>
              <a:t>…</a:t>
            </a:r>
          </a:p>
          <a:p>
            <a:pPr algn="l"/>
            <a:r>
              <a:rPr lang="en-US" dirty="0"/>
              <a:t> 18) Description of risk</a:t>
            </a:r>
          </a:p>
        </p:txBody>
      </p:sp>
    </p:spTree>
    <p:extLst>
      <p:ext uri="{BB962C8B-B14F-4D97-AF65-F5344CB8AC3E}">
        <p14:creationId xmlns:p14="http://schemas.microsoft.com/office/powerpoint/2010/main" val="72572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9294-69AD-6627-5436-27486C8B9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5570" y="418040"/>
            <a:ext cx="9982199" cy="981801"/>
          </a:xfrm>
        </p:spPr>
        <p:txBody>
          <a:bodyPr/>
          <a:lstStyle/>
          <a:p>
            <a:r>
              <a:rPr lang="en-US" dirty="0"/>
              <a:t>HOW:  Plan to verify you have been successful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C39A26B-C1C7-83C9-B63B-638E0B88970C}"/>
              </a:ext>
            </a:extLst>
          </p:cNvPr>
          <p:cNvSpPr txBox="1">
            <a:spLocks/>
          </p:cNvSpPr>
          <p:nvPr/>
        </p:nvSpPr>
        <p:spPr>
          <a:xfrm>
            <a:off x="1104906" y="1478405"/>
            <a:ext cx="9982199" cy="98180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0" i="0" kern="1200">
                <a:solidFill>
                  <a:schemeClr val="bg1"/>
                </a:solidFill>
                <a:latin typeface="Gotham Black" pitchFamily="2" charset="0"/>
                <a:ea typeface="+mj-ea"/>
                <a:cs typeface="Gotham Black" pitchFamily="2" charset="0"/>
              </a:defRPr>
            </a:lvl1pPr>
          </a:lstStyle>
          <a:p>
            <a:r>
              <a:rPr lang="en-US" b="1" dirty="0"/>
              <a:t>Verification and Validation Plan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757BB5-5FC4-0D5E-0856-719AADC48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/>
          <a:p>
            <a:r>
              <a:rPr lang="en-US" dirty="0"/>
              <a:t>Methods to verify that requirements are met.</a:t>
            </a:r>
          </a:p>
          <a:p>
            <a:r>
              <a:rPr lang="en-US" dirty="0"/>
              <a:t>Test plans and acceptance criteria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FA0E68-8547-0A75-4B98-8BD6AA67240D}"/>
              </a:ext>
            </a:extLst>
          </p:cNvPr>
          <p:cNvSpPr txBox="1"/>
          <p:nvPr/>
        </p:nvSpPr>
        <p:spPr>
          <a:xfrm>
            <a:off x="4977245" y="4339001"/>
            <a:ext cx="5863978" cy="553998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When you are done, how will you prove it solves the problem?</a:t>
            </a:r>
          </a:p>
          <a:p>
            <a:pPr algn="l"/>
            <a:r>
              <a:rPr lang="en-US" dirty="0"/>
              <a:t>How to measure against the requirements </a:t>
            </a:r>
          </a:p>
        </p:txBody>
      </p:sp>
    </p:spTree>
    <p:extLst>
      <p:ext uri="{BB962C8B-B14F-4D97-AF65-F5344CB8AC3E}">
        <p14:creationId xmlns:p14="http://schemas.microsoft.com/office/powerpoint/2010/main" val="1147762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B0CF-CB74-F05F-D360-7D3E59A9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Review Plan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81DD-79AD-9FC8-C842-E8450757A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Objectives and deliverables for the subsequent review (e.g., Critical Design Review).</a:t>
            </a:r>
          </a:p>
          <a:p>
            <a:r>
              <a:rPr lang="en-US" dirty="0"/>
              <a:t>Milestones and dependencies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B9235-5313-BF4D-C549-89C0B781899E}"/>
              </a:ext>
            </a:extLst>
          </p:cNvPr>
          <p:cNvSpPr txBox="1"/>
          <p:nvPr/>
        </p:nvSpPr>
        <p:spPr>
          <a:xfrm>
            <a:off x="7716549" y="3101560"/>
            <a:ext cx="2750993" cy="263149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What is the next review?</a:t>
            </a:r>
          </a:p>
          <a:p>
            <a:pPr marL="0" marR="0" indent="0" algn="l">
              <a:lnSpc>
                <a:spcPts val="1950"/>
              </a:lnSpc>
              <a:buNone/>
            </a:pPr>
            <a:endParaRPr lang="en-US" sz="1500" b="1" dirty="0">
              <a:solidFill>
                <a:srgbClr val="5D5751"/>
              </a:solidFill>
              <a:latin typeface="Roboto" panose="02000000000000000000" pitchFamily="2" charset="0"/>
            </a:endParaRPr>
          </a:p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ITR (Independent Technical review)  This is the status of the work done so far</a:t>
            </a:r>
          </a:p>
          <a:p>
            <a:pPr marL="0" marR="0" indent="0" algn="l">
              <a:lnSpc>
                <a:spcPts val="1950"/>
              </a:lnSpc>
              <a:buNone/>
            </a:pPr>
            <a:endParaRPr lang="en-US" sz="1500" b="1" dirty="0">
              <a:solidFill>
                <a:srgbClr val="5D5751"/>
              </a:solidFill>
              <a:latin typeface="Roboto" panose="02000000000000000000" pitchFamily="2" charset="0"/>
            </a:endParaRPr>
          </a:p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CDR (Critical Design Review) You are done.  How does it work?</a:t>
            </a:r>
          </a:p>
          <a:p>
            <a:pPr marL="0" marR="0" indent="0" algn="l">
              <a:lnSpc>
                <a:spcPts val="1950"/>
              </a:lnSpc>
              <a:buNone/>
            </a:pPr>
            <a:endParaRPr lang="en-US" sz="1200" b="0" i="0" dirty="0">
              <a:solidFill>
                <a:srgbClr val="5D575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112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F1650ED-D203-6C98-1059-5A054AF6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853030D-A363-C896-DB13-6A012C99D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rest of the charts are for projects building hardware</a:t>
            </a:r>
          </a:p>
        </p:txBody>
      </p:sp>
    </p:spTree>
    <p:extLst>
      <p:ext uri="{BB962C8B-B14F-4D97-AF65-F5344CB8AC3E}">
        <p14:creationId xmlns:p14="http://schemas.microsoft.com/office/powerpoint/2010/main" val="354018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B616A-6BB2-B395-876C-55C60A4D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Design Development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85A16-796A-AFB3-B34B-C39AE716E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System-level architecture and subsystem interfaces.</a:t>
            </a:r>
          </a:p>
          <a:p>
            <a:r>
              <a:rPr lang="en-US" dirty="0"/>
              <a:t>Interface control documents and verification methods.</a:t>
            </a:r>
          </a:p>
          <a:p>
            <a:r>
              <a:rPr lang="en-US" dirty="0"/>
              <a:t>Risk analysis and mitigation plans 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80EB93-015F-915A-D92C-2F547FC37E51}"/>
              </a:ext>
            </a:extLst>
          </p:cNvPr>
          <p:cNvSpPr txBox="1"/>
          <p:nvPr/>
        </p:nvSpPr>
        <p:spPr>
          <a:xfrm>
            <a:off x="6338454" y="4339001"/>
            <a:ext cx="3463897" cy="830997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Details of your design solution</a:t>
            </a:r>
          </a:p>
          <a:p>
            <a:pPr algn="l"/>
            <a:r>
              <a:rPr lang="en-US" dirty="0"/>
              <a:t>How do different pieces fit together?</a:t>
            </a:r>
          </a:p>
          <a:p>
            <a:pPr algn="l"/>
            <a:r>
              <a:rPr lang="en-US" dirty="0"/>
              <a:t>What are the risks</a:t>
            </a:r>
          </a:p>
        </p:txBody>
      </p:sp>
    </p:spTree>
    <p:extLst>
      <p:ext uri="{BB962C8B-B14F-4D97-AF65-F5344CB8AC3E}">
        <p14:creationId xmlns:p14="http://schemas.microsoft.com/office/powerpoint/2010/main" val="3654932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D4EA-2340-E0FD-751C-A539BDF3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Design Detail and Conceptual Drawings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F1890-6611-2476-34A3-085B088BE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Undimensioned</a:t>
            </a:r>
            <a:r>
              <a:rPr lang="en-US" dirty="0"/>
              <a:t> CAD drawings and subsystem-level designs.</a:t>
            </a:r>
          </a:p>
          <a:p>
            <a:r>
              <a:rPr lang="en-US" dirty="0"/>
              <a:t>First-cut bill of materials.</a:t>
            </a:r>
          </a:p>
          <a:p>
            <a:r>
              <a:rPr lang="en-US" dirty="0"/>
              <a:t>Functional and interface specifications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003C5D-9CE0-ACD7-B649-402D7C626798}"/>
              </a:ext>
            </a:extLst>
          </p:cNvPr>
          <p:cNvSpPr txBox="1"/>
          <p:nvPr/>
        </p:nvSpPr>
        <p:spPr>
          <a:xfrm>
            <a:off x="6338454" y="4339001"/>
            <a:ext cx="3503138" cy="1107996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If you are designing hardware items:</a:t>
            </a:r>
          </a:p>
          <a:p>
            <a:pPr algn="l"/>
            <a:r>
              <a:rPr lang="en-US" dirty="0"/>
              <a:t>What is the preliminary design</a:t>
            </a:r>
          </a:p>
          <a:p>
            <a:pPr algn="l"/>
            <a:r>
              <a:rPr lang="en-US" dirty="0"/>
              <a:t>What will it cost</a:t>
            </a:r>
          </a:p>
          <a:p>
            <a:pPr algn="l"/>
            <a:r>
              <a:rPr lang="en-US" dirty="0"/>
              <a:t>How do the pieces integrate together</a:t>
            </a:r>
          </a:p>
        </p:txBody>
      </p:sp>
    </p:spTree>
    <p:extLst>
      <p:ext uri="{BB962C8B-B14F-4D97-AF65-F5344CB8AC3E}">
        <p14:creationId xmlns:p14="http://schemas.microsoft.com/office/powerpoint/2010/main" val="3189006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A0B44-53A1-AEF9-532C-D468C5368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Prototyping and Technology Demonstrations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C098-88FB-A927-2FFA-B07BFF110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from prototyping, mock-ups, and critical technology tests.</a:t>
            </a:r>
          </a:p>
          <a:p>
            <a:r>
              <a:rPr lang="en-US" dirty="0"/>
              <a:t>Evidence of technical confidence in capability delivery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44519E-9ECB-5B6D-48BC-BE8216C58910}"/>
              </a:ext>
            </a:extLst>
          </p:cNvPr>
          <p:cNvSpPr txBox="1"/>
          <p:nvPr/>
        </p:nvSpPr>
        <p:spPr>
          <a:xfrm>
            <a:off x="4977245" y="4339001"/>
            <a:ext cx="5635004" cy="553998"/>
          </a:xfrm>
          <a:prstGeom prst="rect">
            <a:avLst/>
          </a:prstGeom>
          <a:solidFill>
            <a:srgbClr val="FDFDFD"/>
          </a:solidFill>
        </p:spPr>
        <p:txBody>
          <a:bodyPr wrap="none" lIns="0" tIns="0" rIns="0" bIns="0" rtlCol="0" anchor="t" anchorCtr="0">
            <a:spAutoFit/>
          </a:bodyPr>
          <a:lstStyle/>
          <a:p>
            <a:pPr algn="l"/>
            <a:r>
              <a:rPr lang="en-US" dirty="0"/>
              <a:t>If you are bringing existing equipment/software/technology,</a:t>
            </a:r>
          </a:p>
          <a:p>
            <a:pPr algn="l"/>
            <a:r>
              <a:rPr lang="en-US" dirty="0"/>
              <a:t>Why do you think it is adequate for your project?</a:t>
            </a:r>
          </a:p>
        </p:txBody>
      </p:sp>
    </p:spTree>
    <p:extLst>
      <p:ext uri="{BB962C8B-B14F-4D97-AF65-F5344CB8AC3E}">
        <p14:creationId xmlns:p14="http://schemas.microsoft.com/office/powerpoint/2010/main" val="517875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7A65-8A66-014E-C9CA-14D61D105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Stakeholder Feedback and Alignment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58403-CA6B-B391-61BB-AA04B010E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Summary of input from acquisition community, end users, and other stakeholders.</a:t>
            </a:r>
          </a:p>
          <a:p>
            <a:r>
              <a:rPr lang="en-US" dirty="0"/>
              <a:t>Confirmation that design decisions align with performance and schedule needs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433E5D-CF2E-B60A-74F6-1EFCFF10AB85}"/>
              </a:ext>
            </a:extLst>
          </p:cNvPr>
          <p:cNvSpPr txBox="1"/>
          <p:nvPr/>
        </p:nvSpPr>
        <p:spPr>
          <a:xfrm>
            <a:off x="5488998" y="4881387"/>
            <a:ext cx="5805920" cy="5892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Who will use your solution?</a:t>
            </a:r>
          </a:p>
          <a:p>
            <a:pPr marL="0" marR="0" indent="0" algn="l">
              <a:lnSpc>
                <a:spcPts val="1950"/>
              </a:lnSpc>
              <a:buNone/>
            </a:pPr>
            <a:r>
              <a:rPr lang="en-US" sz="1500" b="1" i="0" dirty="0">
                <a:solidFill>
                  <a:srgbClr val="5D5751"/>
                </a:solidFill>
                <a:latin typeface="Roboto" panose="02000000000000000000" pitchFamily="2" charset="0"/>
              </a:rPr>
              <a:t>Does your proposed solution sati</a:t>
            </a:r>
            <a:r>
              <a:rPr lang="en-US" sz="1500" b="1" dirty="0">
                <a:solidFill>
                  <a:srgbClr val="5D5751"/>
                </a:solidFill>
                <a:latin typeface="Roboto" panose="02000000000000000000" pitchFamily="2" charset="0"/>
              </a:rPr>
              <a:t>sfy their requirements?</a:t>
            </a:r>
            <a:endParaRPr lang="en-US" sz="1200" b="0" i="0" dirty="0">
              <a:solidFill>
                <a:srgbClr val="5D575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595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65E4-F2EB-18F6-121A-AFEDBD88D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Allocated Baseline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25064-BC46-BD3E-6F98-404F4E568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Functional and interface requirements at a level sufficient to define hardware/software configuration item requirements.</a:t>
            </a:r>
          </a:p>
          <a:p>
            <a:r>
              <a:rPr lang="en-US" dirty="0"/>
              <a:t>Configuration control status for each system element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5AF0CA-5595-D55E-CF84-DB9D78FACB1F}"/>
              </a:ext>
            </a:extLst>
          </p:cNvPr>
          <p:cNvSpPr txBox="1"/>
          <p:nvPr/>
        </p:nvSpPr>
        <p:spPr>
          <a:xfrm>
            <a:off x="5488998" y="4881387"/>
            <a:ext cx="5805920" cy="33278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What are you starting from?</a:t>
            </a:r>
            <a:endParaRPr lang="en-US" sz="1200" b="0" i="0" dirty="0">
              <a:solidFill>
                <a:srgbClr val="5D575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309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BD368-9882-0104-6327-E4405572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CB1F1-888A-1773-535C-9A2470D0E3AA}"/>
              </a:ext>
            </a:extLst>
          </p:cNvPr>
          <p:cNvSpPr txBox="1"/>
          <p:nvPr/>
        </p:nvSpPr>
        <p:spPr>
          <a:xfrm>
            <a:off x="7716549" y="3101560"/>
            <a:ext cx="2750993" cy="57964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indent="0" algn="l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5D5751"/>
                </a:solidFill>
                <a:effectLst/>
                <a:latin typeface="Roboto" panose="02000000000000000000" pitchFamily="2" charset="0"/>
              </a:rPr>
              <a:t>Summary slide</a:t>
            </a:r>
          </a:p>
          <a:p>
            <a:pPr marL="0" marR="0" indent="0" algn="l">
              <a:lnSpc>
                <a:spcPts val="1950"/>
              </a:lnSpc>
              <a:buNone/>
            </a:pPr>
            <a:endParaRPr lang="en-US" sz="1200" b="0" i="0" dirty="0">
              <a:solidFill>
                <a:srgbClr val="5D5751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668824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208-MCA-1081 PowerPoint Template - Brand2022-Gotham - 9-16-22 - FinalV2" id="{2FD30FFB-24D6-5041-9D91-472DCF5DC001}" vid="{0B71893E-1823-834C-8E66-8A6728866CE8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208-MCA-1081 PowerPoint Template - Brand2022-Gotham - 9-16-22 - FinalV2" id="{2FD30FFB-24D6-5041-9D91-472DCF5DC001}" vid="{689B2DFA-C230-404D-B106-2468D299117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UCF-PowerPoint-Template-Brand2022-Gotham-9-16-22-FinalV2</Template>
  <TotalTime>66</TotalTime>
  <Words>851</Words>
  <Application>Microsoft Office PowerPoint</Application>
  <PresentationFormat>Widescreen</PresentationFormat>
  <Paragraphs>106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Arial</vt:lpstr>
      <vt:lpstr>Gotham Black</vt:lpstr>
      <vt:lpstr>Gotham Book</vt:lpstr>
      <vt:lpstr>Roboto</vt:lpstr>
      <vt:lpstr>UCF - Title, Divider, Mission Statement and Quotation Slides</vt:lpstr>
      <vt:lpstr>UCF - Single Column Content Slides</vt:lpstr>
      <vt:lpstr>Preliminary Design Review</vt:lpstr>
      <vt:lpstr>CONTENTS (Core Sections of a PDR) </vt:lpstr>
      <vt:lpstr>PowerPoint Presentation</vt:lpstr>
      <vt:lpstr>  WHAT: are you trying to do?  Mission Objective and Requirements </vt:lpstr>
      <vt:lpstr>  WHY:  Why are you solving this?  Who Cares? Etc.. </vt:lpstr>
      <vt:lpstr>HOW and WHEN and WHO:  Management Structure, Cost, Schedule, and Milestones </vt:lpstr>
      <vt:lpstr>WHERE: Where might this project break down?  What are the risksRisk Assessment and Mitigation</vt:lpstr>
      <vt:lpstr>Risk assessment example</vt:lpstr>
      <vt:lpstr>HOW:  Plan to verify you have been successful</vt:lpstr>
      <vt:lpstr>Next Review Plan </vt:lpstr>
      <vt:lpstr>PowerPoint Presentation</vt:lpstr>
      <vt:lpstr>Architectural Design Development </vt:lpstr>
      <vt:lpstr>Design Detail and Conceptual Drawings </vt:lpstr>
      <vt:lpstr>Prototyping and Technology Demonstrations </vt:lpstr>
      <vt:lpstr>Stakeholder Feedback and Alignment </vt:lpstr>
      <vt:lpstr>Allocated Baseline 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Muise</dc:creator>
  <cp:lastModifiedBy>Robert Muise</cp:lastModifiedBy>
  <cp:revision>3</cp:revision>
  <dcterms:created xsi:type="dcterms:W3CDTF">2026-07-21T15:50:30Z</dcterms:created>
  <dcterms:modified xsi:type="dcterms:W3CDTF">2026-08-30T13:09:03Z</dcterms:modified>
</cp:coreProperties>
</file>